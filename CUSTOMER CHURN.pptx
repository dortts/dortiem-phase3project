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7A1CD012-E047-47C3-9FE6-BB9D461CC530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C204301E-617A-4915-8EAF-65F775F75E2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3522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CD012-E047-47C3-9FE6-BB9D461CC530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4301E-617A-4915-8EAF-65F775F75E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8806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CD012-E047-47C3-9FE6-BB9D461CC530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4301E-617A-4915-8EAF-65F775F75E2D}" type="slidenum">
              <a:rPr lang="en-GB" smtClean="0"/>
              <a:t>‹#›</a:t>
            </a:fld>
            <a:endParaRPr lang="en-GB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0462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CD012-E047-47C3-9FE6-BB9D461CC530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4301E-617A-4915-8EAF-65F775F75E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8565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CD012-E047-47C3-9FE6-BB9D461CC530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4301E-617A-4915-8EAF-65F775F75E2D}" type="slidenum">
              <a:rPr lang="en-GB" smtClean="0"/>
              <a:t>‹#›</a:t>
            </a:fld>
            <a:endParaRPr lang="en-GB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7215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CD012-E047-47C3-9FE6-BB9D461CC530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4301E-617A-4915-8EAF-65F775F75E2D}" type="slidenum">
              <a:rPr lang="en-GB" smtClean="0"/>
              <a:t>‹#›</a:t>
            </a:fld>
            <a:endParaRPr lang="en-GB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292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CD012-E047-47C3-9FE6-BB9D461CC530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4301E-617A-4915-8EAF-65F775F75E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4193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CD012-E047-47C3-9FE6-BB9D461CC530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4301E-617A-4915-8EAF-65F775F75E2D}" type="slidenum">
              <a:rPr lang="en-GB" smtClean="0"/>
              <a:t>‹#›</a:t>
            </a:fld>
            <a:endParaRPr lang="en-GB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8511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CD012-E047-47C3-9FE6-BB9D461CC530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4301E-617A-4915-8EAF-65F775F75E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3301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CD012-E047-47C3-9FE6-BB9D461CC530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4301E-617A-4915-8EAF-65F775F75E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903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CD012-E047-47C3-9FE6-BB9D461CC530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4301E-617A-4915-8EAF-65F775F75E2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19460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CD012-E047-47C3-9FE6-BB9D461CC530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4301E-617A-4915-8EAF-65F775F75E2D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95545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CD012-E047-47C3-9FE6-BB9D461CC530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4301E-617A-4915-8EAF-65F775F75E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7819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CD012-E047-47C3-9FE6-BB9D461CC530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4301E-617A-4915-8EAF-65F775F75E2D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94205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CD012-E047-47C3-9FE6-BB9D461CC530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4301E-617A-4915-8EAF-65F775F75E2D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94254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CD012-E047-47C3-9FE6-BB9D461CC530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4301E-617A-4915-8EAF-65F775F75E2D}" type="slidenum">
              <a:rPr lang="en-GB" smtClean="0"/>
              <a:t>‹#›</a:t>
            </a:fld>
            <a:endParaRPr lang="en-GB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68073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CD012-E047-47C3-9FE6-BB9D461CC530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4301E-617A-4915-8EAF-65F775F75E2D}" type="slidenum">
              <a:rPr lang="en-GB" smtClean="0"/>
              <a:t>‹#›</a:t>
            </a:fld>
            <a:endParaRPr lang="en-GB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0524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A1CD012-E047-47C3-9FE6-BB9D461CC530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204301E-617A-4915-8EAF-65F775F75E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6529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becksddf/churn-in-telecoms-dataset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CUSTOMER CHURN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Dorcas </a:t>
            </a:r>
            <a:r>
              <a:rPr lang="en-GB" dirty="0" err="1" smtClean="0"/>
              <a:t>Ndambuki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745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HIGHLIGHTS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GB" dirty="0" smtClean="0"/>
              <a:t>Business Understanding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 smtClean="0"/>
              <a:t>Data Understanding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 smtClean="0"/>
              <a:t>Data Cleaning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 smtClean="0"/>
              <a:t>Primary Results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 smtClean="0"/>
              <a:t>Modelling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 smtClean="0"/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702817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BUSINESS UNDERSTANDING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 smtClean="0"/>
              <a:t> </a:t>
            </a:r>
            <a:r>
              <a:rPr lang="en-GB" dirty="0" err="1" smtClean="0"/>
              <a:t>SyriaTel</a:t>
            </a:r>
            <a:r>
              <a:rPr lang="en-GB" dirty="0" smtClean="0"/>
              <a:t> </a:t>
            </a:r>
            <a:r>
              <a:rPr lang="en-GB" dirty="0"/>
              <a:t>is losing revenue as customers move to competitors. </a:t>
            </a:r>
            <a:endParaRPr lang="en-GB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GB" dirty="0" smtClean="0"/>
              <a:t> This costs </a:t>
            </a:r>
            <a:r>
              <a:rPr lang="en-GB" dirty="0"/>
              <a:t>more than retaining an existing or gaining a new one</a:t>
            </a:r>
            <a:r>
              <a:rPr lang="en-GB" dirty="0" smtClean="0"/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GB" dirty="0"/>
          </a:p>
          <a:p>
            <a:r>
              <a:rPr lang="en-GB" dirty="0"/>
              <a:t>We want to </a:t>
            </a:r>
            <a:r>
              <a:rPr lang="en-GB" dirty="0" smtClean="0"/>
              <a:t>identify </a:t>
            </a:r>
            <a:r>
              <a:rPr lang="en-GB" dirty="0"/>
              <a:t>customers likely </a:t>
            </a:r>
            <a:r>
              <a:rPr lang="en-GB" dirty="0" smtClean="0"/>
              <a:t>to</a:t>
            </a:r>
            <a:r>
              <a:rPr lang="en-GB" dirty="0"/>
              <a:t>t</a:t>
            </a:r>
            <a:r>
              <a:rPr lang="en-GB" dirty="0" smtClean="0"/>
              <a:t> </a:t>
            </a:r>
            <a:r>
              <a:rPr lang="en-GB" dirty="0"/>
              <a:t>churn so </a:t>
            </a:r>
            <a:r>
              <a:rPr lang="en-GB" dirty="0" smtClean="0"/>
              <a:t>that: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dirty="0" smtClean="0"/>
              <a:t> </a:t>
            </a:r>
            <a:r>
              <a:rPr lang="en-GB" dirty="0"/>
              <a:t>W</a:t>
            </a:r>
            <a:r>
              <a:rPr lang="en-GB" dirty="0" smtClean="0"/>
              <a:t>e </a:t>
            </a:r>
            <a:r>
              <a:rPr lang="en-GB" dirty="0"/>
              <a:t>can target them with retention offers and incentives</a:t>
            </a:r>
            <a:r>
              <a:rPr lang="en-GB" dirty="0" smtClean="0"/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 smtClean="0"/>
              <a:t>Objective: </a:t>
            </a:r>
            <a:r>
              <a:rPr lang="en-GB" dirty="0"/>
              <a:t>To build a predictive classification model to identify customers likely to churn.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9338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DATA UNDERSTANDING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Data sourced from:</a:t>
            </a:r>
          </a:p>
          <a:p>
            <a:pPr lvl="1"/>
            <a:r>
              <a:rPr lang="en-GB" dirty="0" err="1" smtClean="0"/>
              <a:t>SyriaTel</a:t>
            </a:r>
            <a:r>
              <a:rPr lang="en-GB" dirty="0" smtClean="0"/>
              <a:t> </a:t>
            </a:r>
            <a:r>
              <a:rPr lang="en-GB" dirty="0"/>
              <a:t>Customer Churn </a:t>
            </a:r>
            <a:r>
              <a:rPr lang="en-GB" dirty="0" smtClean="0"/>
              <a:t>Dataset from:</a:t>
            </a:r>
          </a:p>
          <a:p>
            <a:pPr lvl="1"/>
            <a:r>
              <a:rPr lang="en-GB" dirty="0" smtClean="0"/>
              <a:t>Link: </a:t>
            </a:r>
            <a:r>
              <a:rPr lang="en-GB" u="sng" dirty="0" smtClean="0">
                <a:hlinkClick r:id="rId2"/>
              </a:rPr>
              <a:t>https</a:t>
            </a:r>
            <a:r>
              <a:rPr lang="en-GB" u="sng" dirty="0">
                <a:hlinkClick r:id="rId2"/>
              </a:rPr>
              <a:t>://</a:t>
            </a:r>
            <a:r>
              <a:rPr lang="en-GB" u="sng" dirty="0" smtClean="0">
                <a:hlinkClick r:id="rId2"/>
              </a:rPr>
              <a:t>www.kaggle.com/datasets/becksddf/churn-in-telecoms-dataset</a:t>
            </a:r>
            <a:endParaRPr lang="en-GB" dirty="0"/>
          </a:p>
          <a:p>
            <a:pPr lvl="1"/>
            <a:r>
              <a:rPr lang="en-GB" dirty="0" smtClean="0"/>
              <a:t>Has </a:t>
            </a:r>
            <a:r>
              <a:rPr lang="en-GB" dirty="0"/>
              <a:t>3,333 rows </a:t>
            </a:r>
            <a:r>
              <a:rPr lang="en-GB" dirty="0" smtClean="0"/>
              <a:t>and </a:t>
            </a:r>
            <a:r>
              <a:rPr lang="en-GB" dirty="0"/>
              <a:t>20 </a:t>
            </a:r>
            <a:r>
              <a:rPr lang="en-GB" dirty="0" smtClean="0"/>
              <a:t>features</a:t>
            </a:r>
          </a:p>
          <a:p>
            <a:pPr lvl="1"/>
            <a:r>
              <a:rPr lang="en-GB" b="1" dirty="0" smtClean="0"/>
              <a:t>Target variabl</a:t>
            </a:r>
            <a:r>
              <a:rPr lang="en-GB" dirty="0" smtClean="0"/>
              <a:t>e: Customer Churn </a:t>
            </a:r>
            <a:r>
              <a:rPr lang="en-GB" dirty="0"/>
              <a:t>(True/False)</a:t>
            </a:r>
          </a:p>
          <a:p>
            <a:pPr lvl="1"/>
            <a:r>
              <a:rPr lang="en-GB" dirty="0" smtClean="0"/>
              <a:t>F</a:t>
            </a:r>
            <a:r>
              <a:rPr lang="en-GB" b="1" dirty="0" smtClean="0"/>
              <a:t>eatures</a:t>
            </a:r>
            <a:r>
              <a:rPr lang="en-GB" dirty="0" smtClean="0"/>
              <a:t>: </a:t>
            </a:r>
            <a:r>
              <a:rPr lang="en-GB" dirty="0"/>
              <a:t>total day minutes, customer service calls, international plan, voice mail plan, total day charge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0922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DATA CLEANING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There were no:</a:t>
            </a:r>
          </a:p>
          <a:p>
            <a:pPr lvl="1"/>
            <a:r>
              <a:rPr lang="en-GB" dirty="0" smtClean="0"/>
              <a:t>Missing values.</a:t>
            </a:r>
          </a:p>
          <a:p>
            <a:pPr lvl="1"/>
            <a:r>
              <a:rPr lang="en-GB" dirty="0" smtClean="0"/>
              <a:t>Duplicated values.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2520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PRIMARY RESULTS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More customers did not churn as compared to those who did.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214" y="3020450"/>
            <a:ext cx="6234113" cy="2855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395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MODELLING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For this project, we used:</a:t>
            </a:r>
          </a:p>
          <a:p>
            <a:pPr lvl="1"/>
            <a:r>
              <a:rPr lang="en-GB" dirty="0" smtClean="0"/>
              <a:t>Logistic Regression</a:t>
            </a:r>
          </a:p>
          <a:p>
            <a:pPr lvl="1"/>
            <a:r>
              <a:rPr lang="en-GB" dirty="0" smtClean="0"/>
              <a:t>Decision Tree</a:t>
            </a:r>
          </a:p>
          <a:p>
            <a:pPr lvl="1"/>
            <a:r>
              <a:rPr lang="en-GB" dirty="0" smtClean="0"/>
              <a:t>Random Forest Classifier.</a:t>
            </a:r>
          </a:p>
          <a:p>
            <a:pPr lvl="1"/>
            <a:endParaRPr lang="en-GB" dirty="0"/>
          </a:p>
          <a:p>
            <a:r>
              <a:rPr lang="en-GB" dirty="0" smtClean="0"/>
              <a:t>Metric for assessing success: Recall</a:t>
            </a:r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1071064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LOGISTIC REGRESSION</a:t>
            </a: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4" y="2173287"/>
            <a:ext cx="9963150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985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DECISION TREE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Test Recall: </a:t>
            </a:r>
            <a:r>
              <a:rPr lang="en-GB" b="1" dirty="0" smtClean="0"/>
              <a:t>0.722: </a:t>
            </a:r>
            <a:r>
              <a:rPr lang="en-GB" dirty="0" smtClean="0"/>
              <a:t>identifies </a:t>
            </a:r>
            <a:r>
              <a:rPr lang="en-GB" dirty="0"/>
              <a:t>72% of actual churners on unseen data</a:t>
            </a:r>
          </a:p>
          <a:p>
            <a:r>
              <a:rPr lang="en-GB" b="1" dirty="0" smtClean="0"/>
              <a:t>Overfit </a:t>
            </a:r>
            <a:r>
              <a:rPr lang="en-GB" b="1" dirty="0"/>
              <a:t>gap: </a:t>
            </a:r>
            <a:r>
              <a:rPr lang="en-GB" b="1" dirty="0" smtClean="0"/>
              <a:t>0.133</a:t>
            </a:r>
            <a:r>
              <a:rPr lang="en-GB" b="1" dirty="0"/>
              <a:t>:</a:t>
            </a:r>
            <a:r>
              <a:rPr lang="en-GB" dirty="0" smtClean="0"/>
              <a:t> </a:t>
            </a:r>
            <a:r>
              <a:rPr lang="en-GB" dirty="0"/>
              <a:t>train recall (0.855) is much higher than test </a:t>
            </a:r>
            <a:r>
              <a:rPr lang="en-GB" dirty="0" smtClean="0"/>
              <a:t>recall </a:t>
            </a:r>
            <a:r>
              <a:rPr lang="en-GB" dirty="0"/>
              <a:t>(0.722), showing the model memorizes training data more </a:t>
            </a:r>
            <a:r>
              <a:rPr lang="en-GB" dirty="0" smtClean="0"/>
              <a:t>than </a:t>
            </a:r>
            <a:r>
              <a:rPr lang="en-GB" dirty="0"/>
              <a:t>Logistic Regression did</a:t>
            </a:r>
          </a:p>
          <a:p>
            <a:r>
              <a:rPr lang="en-GB" b="1" dirty="0" smtClean="0"/>
              <a:t>ROC-AUC</a:t>
            </a:r>
            <a:r>
              <a:rPr lang="en-GB" b="1" dirty="0"/>
              <a:t>: </a:t>
            </a:r>
            <a:r>
              <a:rPr lang="en-GB" b="1" dirty="0" smtClean="0"/>
              <a:t>0.803: S</a:t>
            </a:r>
            <a:r>
              <a:rPr lang="en-GB" dirty="0" smtClean="0"/>
              <a:t>lightly </a:t>
            </a:r>
            <a:r>
              <a:rPr lang="en-GB" dirty="0"/>
              <a:t>lower than Logistic Regression (0.828)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9917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TOP FEATURES AS PER DECISION TREE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1624" y="2557463"/>
            <a:ext cx="5952835" cy="359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555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RANDOM FOREST CLASSIFIER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en-GB" dirty="0" smtClean="0"/>
              <a:t>est </a:t>
            </a:r>
            <a:r>
              <a:rPr lang="en-GB" dirty="0"/>
              <a:t>recall (0.701) and has the largest </a:t>
            </a:r>
            <a:r>
              <a:rPr lang="en-GB" dirty="0" err="1"/>
              <a:t>overfit</a:t>
            </a:r>
            <a:r>
              <a:rPr lang="en-GB" dirty="0"/>
              <a:t> </a:t>
            </a:r>
            <a:r>
              <a:rPr lang="en-GB" dirty="0" smtClean="0"/>
              <a:t>gap (0.208</a:t>
            </a:r>
            <a:r>
              <a:rPr lang="en-GB" dirty="0"/>
              <a:t>). </a:t>
            </a:r>
            <a:endParaRPr lang="en-GB" dirty="0" smtClean="0"/>
          </a:p>
          <a:p>
            <a:endParaRPr lang="en-GB" dirty="0" smtClean="0"/>
          </a:p>
          <a:p>
            <a:r>
              <a:rPr lang="en-GB" dirty="0"/>
              <a:t>T</a:t>
            </a:r>
            <a:r>
              <a:rPr lang="en-GB" dirty="0" smtClean="0"/>
              <a:t>raining </a:t>
            </a:r>
            <a:r>
              <a:rPr lang="en-GB" dirty="0"/>
              <a:t>ROC-AUC of </a:t>
            </a:r>
            <a:r>
              <a:rPr lang="en-GB" dirty="0" smtClean="0"/>
              <a:t>1.000:</a:t>
            </a:r>
          </a:p>
          <a:p>
            <a:pPr lvl="1"/>
            <a:r>
              <a:rPr lang="en-GB" dirty="0" smtClean="0"/>
              <a:t> </a:t>
            </a:r>
            <a:r>
              <a:rPr lang="en-GB" dirty="0"/>
              <a:t>C</a:t>
            </a:r>
            <a:r>
              <a:rPr lang="en-GB" dirty="0" smtClean="0"/>
              <a:t>onfirms </a:t>
            </a:r>
            <a:r>
              <a:rPr lang="en-GB" dirty="0"/>
              <a:t>it is </a:t>
            </a:r>
            <a:r>
              <a:rPr lang="en-GB" dirty="0" smtClean="0"/>
              <a:t>memorizing </a:t>
            </a:r>
            <a:r>
              <a:rPr lang="en-GB" dirty="0"/>
              <a:t>training data rather than learning generalizable patterns.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81984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TOP FEATURES AS PER RANDOM FOREST CLASSIFIER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8639" y="2557463"/>
            <a:ext cx="5902317" cy="3616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557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ROC CURVE COMPARISON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2105" y="2557463"/>
            <a:ext cx="4906338" cy="364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314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CONCLUSION - MODEL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smtClean="0"/>
              <a:t>Logistic Regression</a:t>
            </a:r>
            <a:r>
              <a:rPr lang="en-GB" dirty="0" smtClean="0"/>
              <a:t> </a:t>
            </a:r>
            <a:r>
              <a:rPr lang="en-GB" dirty="0"/>
              <a:t>selected </a:t>
            </a:r>
            <a:r>
              <a:rPr lang="en-GB" dirty="0" smtClean="0"/>
              <a:t>as </a:t>
            </a:r>
            <a:r>
              <a:rPr lang="en-GB" dirty="0"/>
              <a:t>the final model because </a:t>
            </a:r>
            <a:r>
              <a:rPr lang="en-GB" dirty="0" smtClean="0"/>
              <a:t>it:</a:t>
            </a:r>
          </a:p>
          <a:p>
            <a:pPr lvl="1"/>
            <a:r>
              <a:rPr lang="en-GB" dirty="0"/>
              <a:t>A</a:t>
            </a:r>
            <a:r>
              <a:rPr lang="en-GB" dirty="0" smtClean="0"/>
              <a:t>chieved </a:t>
            </a:r>
            <a:r>
              <a:rPr lang="en-GB" dirty="0"/>
              <a:t>the </a:t>
            </a:r>
            <a:r>
              <a:rPr lang="en-GB" b="1" dirty="0" smtClean="0"/>
              <a:t>highest </a:t>
            </a:r>
            <a:r>
              <a:rPr lang="en-GB" b="1" dirty="0"/>
              <a:t>test recall (74.2</a:t>
            </a:r>
            <a:r>
              <a:rPr lang="en-GB" b="1" dirty="0" smtClean="0"/>
              <a:t>%)</a:t>
            </a:r>
            <a:r>
              <a:rPr lang="en-GB" dirty="0" smtClean="0"/>
              <a:t>.</a:t>
            </a:r>
          </a:p>
          <a:p>
            <a:pPr lvl="1"/>
            <a:r>
              <a:rPr lang="en-GB" b="1" dirty="0"/>
              <a:t>L</a:t>
            </a:r>
            <a:r>
              <a:rPr lang="en-GB" b="1" dirty="0" smtClean="0"/>
              <a:t>owest </a:t>
            </a:r>
            <a:r>
              <a:rPr lang="en-GB" b="1" dirty="0" err="1"/>
              <a:t>overfit</a:t>
            </a:r>
            <a:r>
              <a:rPr lang="en-GB" b="1" dirty="0"/>
              <a:t> gap (0.022</a:t>
            </a:r>
            <a:r>
              <a:rPr lang="en-GB" b="1" dirty="0" smtClean="0"/>
              <a:t>)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5168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RECOMMENDATIONS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Deploy the model to score customers </a:t>
            </a:r>
            <a:r>
              <a:rPr lang="en-GB" dirty="0" smtClean="0"/>
              <a:t>monthly.</a:t>
            </a:r>
          </a:p>
          <a:p>
            <a:endParaRPr lang="en-GB" dirty="0" smtClean="0"/>
          </a:p>
          <a:p>
            <a:r>
              <a:rPr lang="en-GB" dirty="0" smtClean="0"/>
              <a:t>Intervene </a:t>
            </a:r>
            <a:r>
              <a:rPr lang="en-GB" dirty="0"/>
              <a:t>after the 2nd customer service </a:t>
            </a:r>
            <a:r>
              <a:rPr lang="en-GB" dirty="0" smtClean="0"/>
              <a:t>call.</a:t>
            </a:r>
          </a:p>
          <a:p>
            <a:endParaRPr lang="en-GB" dirty="0" smtClean="0"/>
          </a:p>
          <a:p>
            <a:r>
              <a:rPr lang="en-GB" dirty="0" smtClean="0"/>
              <a:t>Offer </a:t>
            </a:r>
            <a:r>
              <a:rPr lang="en-GB" dirty="0"/>
              <a:t>plan reviews to high day-charge </a:t>
            </a:r>
            <a:r>
              <a:rPr lang="en-GB" dirty="0" smtClean="0"/>
              <a:t>customers.</a:t>
            </a:r>
          </a:p>
          <a:p>
            <a:endParaRPr lang="en-GB" dirty="0" smtClean="0"/>
          </a:p>
          <a:p>
            <a:r>
              <a:rPr lang="en-GB" dirty="0" smtClean="0"/>
              <a:t>Investigate </a:t>
            </a:r>
            <a:r>
              <a:rPr lang="en-GB" dirty="0"/>
              <a:t>the international plan </a:t>
            </a:r>
            <a:r>
              <a:rPr lang="en-GB" dirty="0" smtClean="0"/>
              <a:t>experience</a:t>
            </a:r>
            <a:r>
              <a:rPr lang="en-GB" dirty="0"/>
              <a:t>.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6946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16134" y="2889703"/>
            <a:ext cx="4460421" cy="3093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190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22</TotalTime>
  <Words>347</Words>
  <Application>Microsoft Office PowerPoint</Application>
  <PresentationFormat>Widescreen</PresentationFormat>
  <Paragraphs>62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Garamond</vt:lpstr>
      <vt:lpstr>Wingdings</vt:lpstr>
      <vt:lpstr>Organic</vt:lpstr>
      <vt:lpstr>CUSTOMER CHURN</vt:lpstr>
      <vt:lpstr>HIGHLIGHTS</vt:lpstr>
      <vt:lpstr>BUSINESS UNDERSTANDING</vt:lpstr>
      <vt:lpstr>DATA UNDERSTANDING</vt:lpstr>
      <vt:lpstr>DATA CLEANING</vt:lpstr>
      <vt:lpstr>PRIMARY RESULTS</vt:lpstr>
      <vt:lpstr>MODELLING </vt:lpstr>
      <vt:lpstr>LOGISTIC REGRESSION</vt:lpstr>
      <vt:lpstr>DECISION TREE</vt:lpstr>
      <vt:lpstr>TOP FEATURES AS PER DECISION TREE</vt:lpstr>
      <vt:lpstr>RANDOM FOREST CLASSIFIER</vt:lpstr>
      <vt:lpstr>TOP FEATURES AS PER RANDOM FOREST CLASSIFIER</vt:lpstr>
      <vt:lpstr>ROC CURVE COMPARISON</vt:lpstr>
      <vt:lpstr>CONCLUSION - MODEL</vt:lpstr>
      <vt:lpstr>RECOMMENDATIONS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</dc:title>
  <dc:creator>PC</dc:creator>
  <cp:lastModifiedBy>PC</cp:lastModifiedBy>
  <cp:revision>3</cp:revision>
  <dcterms:created xsi:type="dcterms:W3CDTF">2026-05-05T17:02:26Z</dcterms:created>
  <dcterms:modified xsi:type="dcterms:W3CDTF">2026-05-05T17:24:34Z</dcterms:modified>
</cp:coreProperties>
</file>